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0" r:id="rId2"/>
    <p:sldId id="302" r:id="rId3"/>
    <p:sldId id="304" r:id="rId4"/>
    <p:sldId id="306" r:id="rId5"/>
    <p:sldId id="308" r:id="rId6"/>
  </p:sldIdLst>
  <p:sldSz cx="18288000" cy="10287000"/>
  <p:notesSz cx="6858000" cy="9144000"/>
  <p:embeddedFontLst>
    <p:embeddedFont>
      <p:font typeface="Montserrat" pitchFamily="2" charset="77"/>
      <p:regular r:id="rId7"/>
      <p:bold r:id="rId8"/>
      <p:italic r:id="rId9"/>
      <p:boldItalic r:id="rId10"/>
    </p:embeddedFont>
    <p:embeddedFont>
      <p:font typeface="Montserrat Bold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63" autoAdjust="0"/>
    <p:restoredTop sz="94575" autoAdjust="0"/>
  </p:normalViewPr>
  <p:slideViewPr>
    <p:cSldViewPr>
      <p:cViewPr varScale="1">
        <p:scale>
          <a:sx n="69" d="100"/>
          <a:sy n="69" d="100"/>
        </p:scale>
        <p:origin x="58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722" y="0"/>
            <a:ext cx="8585485" cy="10629004"/>
            <a:chOff x="0" y="0"/>
            <a:chExt cx="2261198" cy="27994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1198" cy="2799408"/>
            </a:xfrm>
            <a:custGeom>
              <a:avLst/>
              <a:gdLst/>
              <a:ahLst/>
              <a:cxnLst/>
              <a:rect l="l" t="t" r="r" b="b"/>
              <a:pathLst>
                <a:path w="2261198" h="2799408">
                  <a:moveTo>
                    <a:pt x="0" y="0"/>
                  </a:moveTo>
                  <a:lnTo>
                    <a:pt x="2261198" y="0"/>
                  </a:lnTo>
                  <a:lnTo>
                    <a:pt x="2261198" y="2799408"/>
                  </a:lnTo>
                  <a:lnTo>
                    <a:pt x="0" y="2799408"/>
                  </a:lnTo>
                  <a:close/>
                </a:path>
              </a:pathLst>
            </a:custGeom>
            <a:gradFill rotWithShape="1">
              <a:gsLst>
                <a:gs pos="0">
                  <a:srgbClr val="048BB1">
                    <a:alpha val="100000"/>
                  </a:srgbClr>
                </a:gs>
                <a:gs pos="50000">
                  <a:srgbClr val="265EC4">
                    <a:alpha val="100000"/>
                  </a:srgbClr>
                </a:gs>
                <a:gs pos="100000">
                  <a:srgbClr val="A021D2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61198" cy="2856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72872" y="1968538"/>
            <a:ext cx="6059038" cy="1438019"/>
            <a:chOff x="0" y="0"/>
            <a:chExt cx="769752" cy="1826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9752" cy="182689"/>
            </a:xfrm>
            <a:custGeom>
              <a:avLst/>
              <a:gdLst/>
              <a:ahLst/>
              <a:cxnLst/>
              <a:rect l="l" t="t" r="r" b="b"/>
              <a:pathLst>
                <a:path w="769752" h="182689">
                  <a:moveTo>
                    <a:pt x="10222" y="0"/>
                  </a:moveTo>
                  <a:lnTo>
                    <a:pt x="759530" y="0"/>
                  </a:lnTo>
                  <a:cubicBezTo>
                    <a:pt x="765175" y="0"/>
                    <a:pt x="769752" y="4577"/>
                    <a:pt x="769752" y="10222"/>
                  </a:cubicBezTo>
                  <a:lnTo>
                    <a:pt x="769752" y="172467"/>
                  </a:lnTo>
                  <a:cubicBezTo>
                    <a:pt x="769752" y="178112"/>
                    <a:pt x="765175" y="182689"/>
                    <a:pt x="759530" y="182689"/>
                  </a:cubicBezTo>
                  <a:lnTo>
                    <a:pt x="10222" y="182689"/>
                  </a:lnTo>
                  <a:cubicBezTo>
                    <a:pt x="4577" y="182689"/>
                    <a:pt x="0" y="178112"/>
                    <a:pt x="0" y="172467"/>
                  </a:cubicBezTo>
                  <a:lnTo>
                    <a:pt x="0" y="10222"/>
                  </a:lnTo>
                  <a:cubicBezTo>
                    <a:pt x="0" y="4577"/>
                    <a:pt x="4577" y="0"/>
                    <a:pt x="10222" y="0"/>
                  </a:cubicBezTo>
                  <a:close/>
                </a:path>
              </a:pathLst>
            </a:custGeom>
            <a:ln w="9525" cap="sq">
              <a:solidFill>
                <a:srgbClr val="76717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69752" cy="239839"/>
            </a:xfrm>
            <a:prstGeom prst="rect">
              <a:avLst/>
            </a:prstGeom>
          </p:spPr>
          <p:txBody>
            <a:bodyPr lIns="105315" tIns="105315" rIns="105315" bIns="105315" rtlCol="0" anchor="ctr"/>
            <a:lstStyle/>
            <a:p>
              <a:pPr algn="ctr">
                <a:lnSpc>
                  <a:spcPts val="3304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2457904"/>
            <a:ext cx="8115300" cy="7087207"/>
          </a:xfrm>
          <a:custGeom>
            <a:avLst/>
            <a:gdLst/>
            <a:ahLst/>
            <a:cxnLst/>
            <a:rect l="l" t="t" r="r" b="b"/>
            <a:pathLst>
              <a:path w="8115300" h="7087207">
                <a:moveTo>
                  <a:pt x="0" y="0"/>
                </a:moveTo>
                <a:lnTo>
                  <a:pt x="8115300" y="0"/>
                </a:lnTo>
                <a:lnTo>
                  <a:pt x="8115300" y="7087206"/>
                </a:lnTo>
                <a:lnTo>
                  <a:pt x="0" y="7087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273" t="-367" r="-20393" b="-504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1085098"/>
            <a:ext cx="687416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spc="-1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Digital-Indoors Residential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754003"/>
            <a:ext cx="409348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1"/>
              </a:lnSpc>
              <a:spcBef>
                <a:spcPct val="0"/>
              </a:spcBef>
            </a:pPr>
            <a:r>
              <a:rPr lang="en-US" sz="2334" spc="1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SPE</a:t>
            </a:r>
            <a:r>
              <a:rPr lang="en-US" sz="2334" u="none" strike="noStrike" spc="1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CIFICATIONS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72872" y="4640988"/>
            <a:ext cx="3173327" cy="72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u="none" strike="noStrike" spc="14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AD DURATION: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u="none" strike="noStrike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10-SECONDS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72872" y="5721211"/>
            <a:ext cx="3338328" cy="7231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DAILY IMPRESSIONS</a:t>
            </a:r>
            <a:r>
              <a:rPr lang="en-US" sz="1945" u="none" strike="noStrike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360</a:t>
            </a:r>
            <a:endParaRPr lang="en-US" sz="2758" b="1" u="none" strike="noStrike" dirty="0">
              <a:gradFill>
                <a:gsLst>
                  <a:gs pos="0">
                    <a:srgbClr val="048BB1">
                      <a:alpha val="100000"/>
                    </a:srgbClr>
                  </a:gs>
                  <a:gs pos="50000">
                    <a:srgbClr val="265EC4">
                      <a:alpha val="100000"/>
                    </a:srgbClr>
                  </a:gs>
                  <a:gs pos="100000">
                    <a:srgbClr val="A021D2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848598" y="4640988"/>
            <a:ext cx="3551761" cy="72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spc="14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FILE FORMAT</a:t>
            </a:r>
            <a:r>
              <a:rPr lang="en-US" sz="1945" u="none" strike="noStrike" spc="14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u="none" strike="noStrike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JPEG, PNG, MP4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57002" y="5721211"/>
            <a:ext cx="3978420" cy="72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SCREEN RESOLUTION</a:t>
            </a:r>
            <a:r>
              <a:rPr lang="en-US" sz="1945" u="none" strike="noStrike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u="none" strike="noStrike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W1080 </a:t>
            </a:r>
            <a:r>
              <a:rPr lang="en-US" sz="2758" u="none" strike="noStrike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-US" sz="2758" b="1" u="none" strike="noStrike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H1920 PX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14035" y="1470542"/>
            <a:ext cx="373456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5"/>
              </a:lnSpc>
              <a:spcBef>
                <a:spcPct val="0"/>
              </a:spcBef>
            </a:pPr>
            <a:r>
              <a:rPr lang="en-US" sz="2271" u="none" strike="noStrike" spc="163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ACTUAL PRICE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94339" y="2065983"/>
            <a:ext cx="3985851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47"/>
              </a:lnSpc>
              <a:spcBef>
                <a:spcPct val="0"/>
              </a:spcBef>
            </a:pPr>
            <a:r>
              <a:rPr lang="en-US" sz="8205" b="1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  <a:r>
              <a:rPr lang="en-US" sz="8205" b="1" u="none" strike="noStrike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,500</a:t>
            </a:r>
            <a:r>
              <a:rPr lang="en-US" sz="8205" u="none" strike="noStrike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"/>
                <a:ea typeface="Montserrat"/>
                <a:cs typeface="Montserrat"/>
                <a:sym typeface="Montserrat"/>
              </a:rPr>
              <a:t>/-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80329" y="2193589"/>
            <a:ext cx="3183176" cy="987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1"/>
              </a:lnSpc>
              <a:spcBef>
                <a:spcPct val="0"/>
              </a:spcBef>
            </a:pPr>
            <a:r>
              <a:rPr lang="en-US" sz="2192" b="1" u="none" strike="noStrike" spc="157">
                <a:solidFill>
                  <a:srgbClr val="39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+18% GST PER MONTH PER</a:t>
            </a:r>
          </a:p>
          <a:p>
            <a:pPr marL="0" lvl="0" indent="0" algn="l">
              <a:lnSpc>
                <a:spcPts val="2631"/>
              </a:lnSpc>
              <a:spcBef>
                <a:spcPct val="0"/>
              </a:spcBef>
            </a:pPr>
            <a:r>
              <a:rPr lang="en-US" sz="2192" b="1" u="none" strike="noStrike" spc="157">
                <a:solidFill>
                  <a:srgbClr val="39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722" y="0"/>
            <a:ext cx="8585485" cy="10629004"/>
            <a:chOff x="0" y="0"/>
            <a:chExt cx="2261198" cy="27994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1198" cy="2799408"/>
            </a:xfrm>
            <a:custGeom>
              <a:avLst/>
              <a:gdLst/>
              <a:ahLst/>
              <a:cxnLst/>
              <a:rect l="l" t="t" r="r" b="b"/>
              <a:pathLst>
                <a:path w="2261198" h="2799408">
                  <a:moveTo>
                    <a:pt x="0" y="0"/>
                  </a:moveTo>
                  <a:lnTo>
                    <a:pt x="2261198" y="0"/>
                  </a:lnTo>
                  <a:lnTo>
                    <a:pt x="2261198" y="2799408"/>
                  </a:lnTo>
                  <a:lnTo>
                    <a:pt x="0" y="2799408"/>
                  </a:lnTo>
                  <a:close/>
                </a:path>
              </a:pathLst>
            </a:custGeom>
            <a:gradFill rotWithShape="1">
              <a:gsLst>
                <a:gs pos="0">
                  <a:srgbClr val="048BB1">
                    <a:alpha val="100000"/>
                  </a:srgbClr>
                </a:gs>
                <a:gs pos="50000">
                  <a:srgbClr val="265EC4">
                    <a:alpha val="100000"/>
                  </a:srgbClr>
                </a:gs>
                <a:gs pos="100000">
                  <a:srgbClr val="A021D2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61198" cy="2856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72872" y="1968538"/>
            <a:ext cx="6614928" cy="1438019"/>
            <a:chOff x="0" y="0"/>
            <a:chExt cx="769752" cy="1826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9752" cy="182689"/>
            </a:xfrm>
            <a:custGeom>
              <a:avLst/>
              <a:gdLst/>
              <a:ahLst/>
              <a:cxnLst/>
              <a:rect l="l" t="t" r="r" b="b"/>
              <a:pathLst>
                <a:path w="769752" h="182689">
                  <a:moveTo>
                    <a:pt x="10222" y="0"/>
                  </a:moveTo>
                  <a:lnTo>
                    <a:pt x="759530" y="0"/>
                  </a:lnTo>
                  <a:cubicBezTo>
                    <a:pt x="765175" y="0"/>
                    <a:pt x="769752" y="4577"/>
                    <a:pt x="769752" y="10222"/>
                  </a:cubicBezTo>
                  <a:lnTo>
                    <a:pt x="769752" y="172467"/>
                  </a:lnTo>
                  <a:cubicBezTo>
                    <a:pt x="769752" y="178112"/>
                    <a:pt x="765175" y="182689"/>
                    <a:pt x="759530" y="182689"/>
                  </a:cubicBezTo>
                  <a:lnTo>
                    <a:pt x="10222" y="182689"/>
                  </a:lnTo>
                  <a:cubicBezTo>
                    <a:pt x="4577" y="182689"/>
                    <a:pt x="0" y="178112"/>
                    <a:pt x="0" y="172467"/>
                  </a:cubicBezTo>
                  <a:lnTo>
                    <a:pt x="0" y="10222"/>
                  </a:lnTo>
                  <a:cubicBezTo>
                    <a:pt x="0" y="4577"/>
                    <a:pt x="4577" y="0"/>
                    <a:pt x="10222" y="0"/>
                  </a:cubicBezTo>
                  <a:close/>
                </a:path>
              </a:pathLst>
            </a:custGeom>
            <a:ln w="9525" cap="sq">
              <a:solidFill>
                <a:srgbClr val="76717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69752" cy="239839"/>
            </a:xfrm>
            <a:prstGeom prst="rect">
              <a:avLst/>
            </a:prstGeom>
          </p:spPr>
          <p:txBody>
            <a:bodyPr lIns="105315" tIns="105315" rIns="105315" bIns="105315" rtlCol="0" anchor="ctr"/>
            <a:lstStyle/>
            <a:p>
              <a:pPr algn="ctr">
                <a:lnSpc>
                  <a:spcPts val="330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038225"/>
            <a:ext cx="443648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u="none" strike="noStrike" spc="-1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Digital- Corporate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54003"/>
            <a:ext cx="409348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1"/>
              </a:lnSpc>
              <a:spcBef>
                <a:spcPct val="0"/>
              </a:spcBef>
            </a:pPr>
            <a:r>
              <a:rPr lang="en-US" sz="2334" spc="1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SPE</a:t>
            </a:r>
            <a:r>
              <a:rPr lang="en-US" sz="2334" u="none" strike="noStrike" spc="1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CIFICATIONS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04866" y="4683068"/>
            <a:ext cx="3173327" cy="72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u="none" strike="noStrike" spc="14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AD DURATION: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u="none" strike="noStrike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10-SECONDS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25082" y="6032762"/>
            <a:ext cx="3775726" cy="72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DAILY IMPRESSIONS</a:t>
            </a:r>
            <a:r>
              <a:rPr lang="en-US" sz="1945" u="none" strike="noStrike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u="none" strike="noStrike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210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80592" y="4683068"/>
            <a:ext cx="3551761" cy="72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spc="14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FILE FORMAT</a:t>
            </a:r>
            <a:r>
              <a:rPr lang="en-US" sz="1945" u="none" strike="noStrike" spc="14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u="none" strike="noStrike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JPEG, PNG, MP4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65292" y="5887530"/>
            <a:ext cx="3978420" cy="72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SCREEN RESOLUTION</a:t>
            </a:r>
            <a:r>
              <a:rPr lang="en-US" sz="1945" u="none" strike="noStrike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u="none" strike="noStrike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W1080 </a:t>
            </a:r>
            <a:r>
              <a:rPr lang="en-US" sz="2758" u="none" strike="noStrike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-US" sz="2758" b="1" u="none" strike="noStrike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H1920 PX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14035" y="1470542"/>
            <a:ext cx="373456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5"/>
              </a:lnSpc>
              <a:spcBef>
                <a:spcPct val="0"/>
              </a:spcBef>
            </a:pPr>
            <a:r>
              <a:rPr lang="en-US" sz="2271" u="none" strike="noStrike" spc="163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ACTUAL PRICE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94339" y="2065983"/>
            <a:ext cx="3985851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47"/>
              </a:lnSpc>
              <a:spcBef>
                <a:spcPct val="0"/>
              </a:spcBef>
            </a:pPr>
            <a:r>
              <a:rPr lang="en-US" sz="8205" b="1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12</a:t>
            </a:r>
            <a:r>
              <a:rPr lang="en-US" sz="8205" b="1" u="none" strike="noStrike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,000</a:t>
            </a:r>
            <a:r>
              <a:rPr lang="en-US" sz="8205" u="none" strike="noStrike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"/>
                <a:ea typeface="Montserrat"/>
                <a:cs typeface="Montserrat"/>
                <a:sym typeface="Montserrat"/>
              </a:rPr>
              <a:t>/-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62914" y="2273407"/>
            <a:ext cx="3183176" cy="987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1"/>
              </a:lnSpc>
              <a:spcBef>
                <a:spcPct val="0"/>
              </a:spcBef>
            </a:pPr>
            <a:r>
              <a:rPr lang="en-US" sz="2192" b="1" u="none" strike="noStrike" spc="157" dirty="0">
                <a:solidFill>
                  <a:srgbClr val="39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+18% GST PER MONTH PER</a:t>
            </a:r>
          </a:p>
          <a:p>
            <a:pPr marL="0" lvl="0" indent="0" algn="l">
              <a:lnSpc>
                <a:spcPts val="2631"/>
              </a:lnSpc>
              <a:spcBef>
                <a:spcPct val="0"/>
              </a:spcBef>
            </a:pPr>
            <a:r>
              <a:rPr lang="en-US" sz="2192" b="1" u="none" strike="noStrike" spc="157" dirty="0">
                <a:solidFill>
                  <a:srgbClr val="39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SCREEN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28700" y="2457904"/>
            <a:ext cx="8115300" cy="7087207"/>
          </a:xfrm>
          <a:custGeom>
            <a:avLst/>
            <a:gdLst/>
            <a:ahLst/>
            <a:cxnLst/>
            <a:rect l="l" t="t" r="r" b="b"/>
            <a:pathLst>
              <a:path w="8115300" h="7087207">
                <a:moveTo>
                  <a:pt x="0" y="0"/>
                </a:moveTo>
                <a:lnTo>
                  <a:pt x="8115300" y="0"/>
                </a:lnTo>
                <a:lnTo>
                  <a:pt x="8115300" y="7087206"/>
                </a:lnTo>
                <a:lnTo>
                  <a:pt x="0" y="7087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522" t="-34148" r="-94672" b="-2284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72872" y="1968538"/>
            <a:ext cx="6059038" cy="1438019"/>
            <a:chOff x="0" y="0"/>
            <a:chExt cx="769752" cy="182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9752" cy="182689"/>
            </a:xfrm>
            <a:custGeom>
              <a:avLst/>
              <a:gdLst/>
              <a:ahLst/>
              <a:cxnLst/>
              <a:rect l="l" t="t" r="r" b="b"/>
              <a:pathLst>
                <a:path w="769752" h="182689">
                  <a:moveTo>
                    <a:pt x="10222" y="0"/>
                  </a:moveTo>
                  <a:lnTo>
                    <a:pt x="759530" y="0"/>
                  </a:lnTo>
                  <a:cubicBezTo>
                    <a:pt x="765175" y="0"/>
                    <a:pt x="769752" y="4577"/>
                    <a:pt x="769752" y="10222"/>
                  </a:cubicBezTo>
                  <a:lnTo>
                    <a:pt x="769752" y="172467"/>
                  </a:lnTo>
                  <a:cubicBezTo>
                    <a:pt x="769752" y="178112"/>
                    <a:pt x="765175" y="182689"/>
                    <a:pt x="759530" y="182689"/>
                  </a:cubicBezTo>
                  <a:lnTo>
                    <a:pt x="10222" y="182689"/>
                  </a:lnTo>
                  <a:cubicBezTo>
                    <a:pt x="4577" y="182689"/>
                    <a:pt x="0" y="178112"/>
                    <a:pt x="0" y="172467"/>
                  </a:cubicBezTo>
                  <a:lnTo>
                    <a:pt x="0" y="10222"/>
                  </a:lnTo>
                  <a:cubicBezTo>
                    <a:pt x="0" y="4577"/>
                    <a:pt x="4577" y="0"/>
                    <a:pt x="10222" y="0"/>
                  </a:cubicBezTo>
                  <a:close/>
                </a:path>
              </a:pathLst>
            </a:custGeom>
            <a:ln w="9525" cap="sq">
              <a:solidFill>
                <a:srgbClr val="76717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769752" cy="239839"/>
            </a:xfrm>
            <a:prstGeom prst="rect">
              <a:avLst/>
            </a:prstGeom>
          </p:spPr>
          <p:txBody>
            <a:bodyPr lIns="105315" tIns="105315" rIns="105315" bIns="105315" rtlCol="0" anchor="ctr"/>
            <a:lstStyle/>
            <a:p>
              <a:pPr algn="ctr">
                <a:lnSpc>
                  <a:spcPts val="330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722" y="0"/>
            <a:ext cx="8585485" cy="10629004"/>
            <a:chOff x="0" y="0"/>
            <a:chExt cx="2261198" cy="27994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198" cy="2799408"/>
            </a:xfrm>
            <a:custGeom>
              <a:avLst/>
              <a:gdLst/>
              <a:ahLst/>
              <a:cxnLst/>
              <a:rect l="l" t="t" r="r" b="b"/>
              <a:pathLst>
                <a:path w="2261198" h="2799408">
                  <a:moveTo>
                    <a:pt x="0" y="0"/>
                  </a:moveTo>
                  <a:lnTo>
                    <a:pt x="2261198" y="0"/>
                  </a:lnTo>
                  <a:lnTo>
                    <a:pt x="2261198" y="2799408"/>
                  </a:lnTo>
                  <a:lnTo>
                    <a:pt x="0" y="2799408"/>
                  </a:lnTo>
                  <a:close/>
                </a:path>
              </a:pathLst>
            </a:custGeom>
            <a:gradFill rotWithShape="1">
              <a:gsLst>
                <a:gs pos="0">
                  <a:srgbClr val="048BB1">
                    <a:alpha val="100000"/>
                  </a:srgbClr>
                </a:gs>
                <a:gs pos="50000">
                  <a:srgbClr val="265EC4">
                    <a:alpha val="100000"/>
                  </a:srgbClr>
                </a:gs>
                <a:gs pos="100000">
                  <a:srgbClr val="A021D2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261198" cy="2856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94339" y="2065983"/>
            <a:ext cx="3985851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47"/>
              </a:lnSpc>
              <a:spcBef>
                <a:spcPct val="0"/>
              </a:spcBef>
            </a:pPr>
            <a:r>
              <a:rPr lang="en-US" sz="8205" b="1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  <a:r>
              <a:rPr lang="en-US" sz="8205" b="1" u="none" strike="noStrike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,000</a:t>
            </a:r>
            <a:r>
              <a:rPr lang="en-US" sz="8205" u="none" strike="noStrike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"/>
                <a:ea typeface="Montserrat"/>
                <a:cs typeface="Montserrat"/>
                <a:sym typeface="Montserrat"/>
              </a:rPr>
              <a:t>/-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038225"/>
            <a:ext cx="511848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spc="-1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sz="3999" b="1" u="none" strike="noStrike" spc="-1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tatic-Poster Frames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754003"/>
            <a:ext cx="409348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1"/>
              </a:lnSpc>
              <a:spcBef>
                <a:spcPct val="0"/>
              </a:spcBef>
            </a:pPr>
            <a:r>
              <a:rPr lang="en-US" sz="2334" spc="1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SPE</a:t>
            </a:r>
            <a:r>
              <a:rPr lang="en-US" sz="2334" u="none" strike="noStrike" spc="1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CIFICATIONS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34800" y="4844438"/>
            <a:ext cx="3173327" cy="72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POSTER SIZE</a:t>
            </a:r>
            <a:r>
              <a:rPr lang="en-US" sz="1945" u="none" strike="noStrike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A2 </a:t>
            </a:r>
            <a:endParaRPr lang="en-US" sz="2758" b="1" u="none" strike="noStrike" dirty="0">
              <a:gradFill>
                <a:gsLst>
                  <a:gs pos="0">
                    <a:srgbClr val="048BB1">
                      <a:alpha val="100000"/>
                    </a:srgbClr>
                  </a:gs>
                  <a:gs pos="50000">
                    <a:srgbClr val="265EC4">
                      <a:alpha val="100000"/>
                    </a:srgbClr>
                  </a:gs>
                  <a:gs pos="100000">
                    <a:srgbClr val="A021D2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114035" y="1470542"/>
            <a:ext cx="373456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5"/>
              </a:lnSpc>
              <a:spcBef>
                <a:spcPct val="0"/>
              </a:spcBef>
            </a:pPr>
            <a:r>
              <a:rPr lang="en-US" sz="2271" u="none" strike="noStrike" spc="163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ACTUAL PRICE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80329" y="2193589"/>
            <a:ext cx="3183176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1"/>
              </a:lnSpc>
              <a:spcBef>
                <a:spcPct val="0"/>
              </a:spcBef>
            </a:pPr>
            <a:r>
              <a:rPr lang="en-US" sz="2192" b="1" u="none" strike="noStrike" spc="157" dirty="0">
                <a:solidFill>
                  <a:srgbClr val="39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+18% GST PER MONTH PER</a:t>
            </a:r>
          </a:p>
          <a:p>
            <a:pPr marL="0" lvl="0" indent="0" algn="l">
              <a:lnSpc>
                <a:spcPts val="2631"/>
              </a:lnSpc>
              <a:spcBef>
                <a:spcPct val="0"/>
              </a:spcBef>
            </a:pPr>
            <a:r>
              <a:rPr lang="en-US" sz="2192" b="1" spc="157" dirty="0">
                <a:solidFill>
                  <a:srgbClr val="39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POSTER</a:t>
            </a:r>
            <a:endParaRPr lang="en-US" sz="2192" b="1" u="none" strike="noStrike" spc="157" dirty="0">
              <a:solidFill>
                <a:srgbClr val="393939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028700" y="2482799"/>
            <a:ext cx="8115300" cy="7062312"/>
          </a:xfrm>
          <a:custGeom>
            <a:avLst/>
            <a:gdLst/>
            <a:ahLst/>
            <a:cxnLst/>
            <a:rect l="l" t="t" r="r" b="b"/>
            <a:pathLst>
              <a:path w="8115300" h="7062312">
                <a:moveTo>
                  <a:pt x="0" y="0"/>
                </a:moveTo>
                <a:lnTo>
                  <a:pt x="8115300" y="0"/>
                </a:lnTo>
                <a:lnTo>
                  <a:pt x="8115300" y="7062311"/>
                </a:lnTo>
                <a:lnTo>
                  <a:pt x="0" y="7062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091" b="-2189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72872" y="1968538"/>
            <a:ext cx="7754146" cy="1438019"/>
            <a:chOff x="0" y="0"/>
            <a:chExt cx="769752" cy="182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9752" cy="182689"/>
            </a:xfrm>
            <a:custGeom>
              <a:avLst/>
              <a:gdLst/>
              <a:ahLst/>
              <a:cxnLst/>
              <a:rect l="l" t="t" r="r" b="b"/>
              <a:pathLst>
                <a:path w="769752" h="182689">
                  <a:moveTo>
                    <a:pt x="10222" y="0"/>
                  </a:moveTo>
                  <a:lnTo>
                    <a:pt x="759530" y="0"/>
                  </a:lnTo>
                  <a:cubicBezTo>
                    <a:pt x="765175" y="0"/>
                    <a:pt x="769752" y="4577"/>
                    <a:pt x="769752" y="10222"/>
                  </a:cubicBezTo>
                  <a:lnTo>
                    <a:pt x="769752" y="172467"/>
                  </a:lnTo>
                  <a:cubicBezTo>
                    <a:pt x="769752" y="178112"/>
                    <a:pt x="765175" y="182689"/>
                    <a:pt x="759530" y="182689"/>
                  </a:cubicBezTo>
                  <a:lnTo>
                    <a:pt x="10222" y="182689"/>
                  </a:lnTo>
                  <a:cubicBezTo>
                    <a:pt x="4577" y="182689"/>
                    <a:pt x="0" y="178112"/>
                    <a:pt x="0" y="172467"/>
                  </a:cubicBezTo>
                  <a:lnTo>
                    <a:pt x="0" y="10222"/>
                  </a:lnTo>
                  <a:cubicBezTo>
                    <a:pt x="0" y="4577"/>
                    <a:pt x="4577" y="0"/>
                    <a:pt x="10222" y="0"/>
                  </a:cubicBezTo>
                  <a:close/>
                </a:path>
              </a:pathLst>
            </a:custGeom>
            <a:ln w="9525" cap="sq">
              <a:solidFill>
                <a:srgbClr val="76717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769752" cy="239839"/>
            </a:xfrm>
            <a:prstGeom prst="rect">
              <a:avLst/>
            </a:prstGeom>
          </p:spPr>
          <p:txBody>
            <a:bodyPr lIns="105315" tIns="105315" rIns="105315" bIns="105315" rtlCol="0" anchor="ctr"/>
            <a:lstStyle/>
            <a:p>
              <a:pPr algn="ctr">
                <a:lnSpc>
                  <a:spcPts val="330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722" y="0"/>
            <a:ext cx="8585485" cy="10629004"/>
            <a:chOff x="0" y="0"/>
            <a:chExt cx="2261198" cy="27994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198" cy="2799408"/>
            </a:xfrm>
            <a:custGeom>
              <a:avLst/>
              <a:gdLst/>
              <a:ahLst/>
              <a:cxnLst/>
              <a:rect l="l" t="t" r="r" b="b"/>
              <a:pathLst>
                <a:path w="2261198" h="2799408">
                  <a:moveTo>
                    <a:pt x="0" y="0"/>
                  </a:moveTo>
                  <a:lnTo>
                    <a:pt x="2261198" y="0"/>
                  </a:lnTo>
                  <a:lnTo>
                    <a:pt x="2261198" y="2799408"/>
                  </a:lnTo>
                  <a:lnTo>
                    <a:pt x="0" y="2799408"/>
                  </a:lnTo>
                  <a:close/>
                </a:path>
              </a:pathLst>
            </a:custGeom>
            <a:gradFill rotWithShape="1">
              <a:gsLst>
                <a:gs pos="0">
                  <a:srgbClr val="048BB1">
                    <a:alpha val="100000"/>
                  </a:srgbClr>
                </a:gs>
                <a:gs pos="50000">
                  <a:srgbClr val="265EC4">
                    <a:alpha val="100000"/>
                  </a:srgbClr>
                </a:gs>
                <a:gs pos="100000">
                  <a:srgbClr val="A021D2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261198" cy="2856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94339" y="2065983"/>
            <a:ext cx="4695051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847"/>
              </a:lnSpc>
              <a:spcBef>
                <a:spcPct val="0"/>
              </a:spcBef>
            </a:pPr>
            <a:r>
              <a:rPr lang="en-US" sz="8205" b="1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  <a:r>
              <a:rPr lang="en-US" sz="8205" b="1" u="none" strike="noStrike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,50,000</a:t>
            </a:r>
            <a:r>
              <a:rPr lang="en-US" sz="8205" u="none" strike="noStrike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"/>
                <a:ea typeface="Montserrat"/>
                <a:cs typeface="Montserrat"/>
                <a:sym typeface="Montserrat"/>
              </a:rPr>
              <a:t>/-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038225"/>
            <a:ext cx="511848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spc="-1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Metro S</a:t>
            </a:r>
            <a:r>
              <a:rPr lang="en-US" sz="3999" b="1" u="none" strike="noStrike" spc="-1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tation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754003"/>
            <a:ext cx="409348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1"/>
              </a:lnSpc>
              <a:spcBef>
                <a:spcPct val="0"/>
              </a:spcBef>
            </a:pPr>
            <a:r>
              <a:rPr lang="en-US" sz="2334" spc="1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SPE</a:t>
            </a:r>
            <a:r>
              <a:rPr lang="en-US" sz="2334" u="none" strike="noStrike" spc="1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CIFICATIONS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72872" y="6864115"/>
            <a:ext cx="3173327" cy="72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u="none" strike="noStrike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AD DURATION: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u="none" strike="noStrike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15-SECONDS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72872" y="7943685"/>
            <a:ext cx="3775726" cy="72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DAILY IMPRESSIONS</a:t>
            </a:r>
            <a:r>
              <a:rPr lang="en-US" sz="1945" u="none" strike="noStrike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340</a:t>
            </a:r>
            <a:endParaRPr lang="en-US" sz="2758" b="1" u="none" strike="noStrike" dirty="0">
              <a:gradFill>
                <a:gsLst>
                  <a:gs pos="0">
                    <a:srgbClr val="048BB1">
                      <a:alpha val="100000"/>
                    </a:srgbClr>
                  </a:gs>
                  <a:gs pos="50000">
                    <a:srgbClr val="265EC4">
                      <a:alpha val="100000"/>
                    </a:srgbClr>
                  </a:gs>
                  <a:gs pos="100000">
                    <a:srgbClr val="A021D2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848598" y="6864115"/>
            <a:ext cx="3551761" cy="72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spc="14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FILE FORMAT</a:t>
            </a:r>
            <a:r>
              <a:rPr lang="en-US" sz="1945" u="none" strike="noStrike" spc="14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u="none" strike="noStrike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JPEG, PNG, MP4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48598" y="7919581"/>
            <a:ext cx="3978420" cy="72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spc="14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SCREEN RESOLUTION</a:t>
            </a:r>
            <a:r>
              <a:rPr lang="en-US" sz="1945" u="none" strike="noStrike" spc="14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u="none" strike="noStrike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W1080 </a:t>
            </a:r>
            <a:r>
              <a:rPr lang="en-US" sz="2758" u="none" strike="noStrike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-US" sz="2758" b="1" u="none" strike="noStrike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H1920 PX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72872" y="1061506"/>
            <a:ext cx="8058531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725"/>
              </a:lnSpc>
              <a:spcBef>
                <a:spcPct val="0"/>
              </a:spcBef>
            </a:pPr>
            <a:r>
              <a:rPr lang="en-US" sz="2271" u="none" strike="noStrike" spc="163" dirty="0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ACTUAL PRICE FOR ALL THE STATIONS EXCEPT AMEERPET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989390" y="2237101"/>
            <a:ext cx="3183176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1"/>
              </a:lnSpc>
              <a:spcBef>
                <a:spcPct val="0"/>
              </a:spcBef>
            </a:pPr>
            <a:r>
              <a:rPr lang="en-US" sz="2192" b="1" u="none" strike="noStrike" spc="157" dirty="0">
                <a:solidFill>
                  <a:srgbClr val="39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+18% GST PER MONTH PER</a:t>
            </a:r>
          </a:p>
          <a:p>
            <a:pPr marL="0" lvl="0" indent="0" algn="l">
              <a:lnSpc>
                <a:spcPts val="2631"/>
              </a:lnSpc>
              <a:spcBef>
                <a:spcPct val="0"/>
              </a:spcBef>
            </a:pPr>
            <a:r>
              <a:rPr lang="en-US" sz="2192" b="1" u="none" strike="noStrike" spc="157" dirty="0">
                <a:solidFill>
                  <a:srgbClr val="39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STATION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28700" y="2482799"/>
            <a:ext cx="8115300" cy="7062312"/>
            <a:chOff x="0" y="0"/>
            <a:chExt cx="950229" cy="82693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0229" cy="826934"/>
            </a:xfrm>
            <a:custGeom>
              <a:avLst/>
              <a:gdLst/>
              <a:ahLst/>
              <a:cxnLst/>
              <a:rect l="l" t="t" r="r" b="b"/>
              <a:pathLst>
                <a:path w="950229" h="826934">
                  <a:moveTo>
                    <a:pt x="11448" y="0"/>
                  </a:moveTo>
                  <a:lnTo>
                    <a:pt x="938781" y="0"/>
                  </a:lnTo>
                  <a:cubicBezTo>
                    <a:pt x="941818" y="0"/>
                    <a:pt x="944729" y="1206"/>
                    <a:pt x="946876" y="3353"/>
                  </a:cubicBezTo>
                  <a:cubicBezTo>
                    <a:pt x="949023" y="5500"/>
                    <a:pt x="950229" y="8412"/>
                    <a:pt x="950229" y="11448"/>
                  </a:cubicBezTo>
                  <a:lnTo>
                    <a:pt x="950229" y="815486"/>
                  </a:lnTo>
                  <a:cubicBezTo>
                    <a:pt x="950229" y="821808"/>
                    <a:pt x="945104" y="826934"/>
                    <a:pt x="938781" y="826934"/>
                  </a:cubicBezTo>
                  <a:lnTo>
                    <a:pt x="11448" y="826934"/>
                  </a:lnTo>
                  <a:cubicBezTo>
                    <a:pt x="8412" y="826934"/>
                    <a:pt x="5500" y="825728"/>
                    <a:pt x="3353" y="823581"/>
                  </a:cubicBezTo>
                  <a:cubicBezTo>
                    <a:pt x="1206" y="821434"/>
                    <a:pt x="0" y="818522"/>
                    <a:pt x="0" y="815486"/>
                  </a:cubicBezTo>
                  <a:lnTo>
                    <a:pt x="0" y="11448"/>
                  </a:lnTo>
                  <a:cubicBezTo>
                    <a:pt x="0" y="8412"/>
                    <a:pt x="1206" y="5500"/>
                    <a:pt x="3353" y="3353"/>
                  </a:cubicBezTo>
                  <a:cubicBezTo>
                    <a:pt x="5500" y="1206"/>
                    <a:pt x="8412" y="0"/>
                    <a:pt x="11448" y="0"/>
                  </a:cubicBezTo>
                  <a:close/>
                </a:path>
              </a:pathLst>
            </a:custGeom>
            <a:blipFill>
              <a:blip r:embed="rId2"/>
              <a:stretch>
                <a:fillRect l="-23481" r="-31228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2">
            <a:extLst>
              <a:ext uri="{FF2B5EF4-FFF2-40B4-BE49-F238E27FC236}">
                <a16:creationId xmlns:a16="http://schemas.microsoft.com/office/drawing/2014/main" id="{E1298D21-2F09-DFD6-E223-3DFC85BE07E0}"/>
              </a:ext>
            </a:extLst>
          </p:cNvPr>
          <p:cNvGrpSpPr/>
          <p:nvPr/>
        </p:nvGrpSpPr>
        <p:grpSpPr>
          <a:xfrm>
            <a:off x="9991116" y="4696113"/>
            <a:ext cx="7754146" cy="1438019"/>
            <a:chOff x="0" y="0"/>
            <a:chExt cx="769752" cy="182689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E2122672-C278-A87D-C662-79EB3278DD2D}"/>
                </a:ext>
              </a:extLst>
            </p:cNvPr>
            <p:cNvSpPr/>
            <p:nvPr/>
          </p:nvSpPr>
          <p:spPr>
            <a:xfrm>
              <a:off x="0" y="0"/>
              <a:ext cx="769752" cy="182689"/>
            </a:xfrm>
            <a:custGeom>
              <a:avLst/>
              <a:gdLst/>
              <a:ahLst/>
              <a:cxnLst/>
              <a:rect l="l" t="t" r="r" b="b"/>
              <a:pathLst>
                <a:path w="769752" h="182689">
                  <a:moveTo>
                    <a:pt x="10222" y="0"/>
                  </a:moveTo>
                  <a:lnTo>
                    <a:pt x="759530" y="0"/>
                  </a:lnTo>
                  <a:cubicBezTo>
                    <a:pt x="765175" y="0"/>
                    <a:pt x="769752" y="4577"/>
                    <a:pt x="769752" y="10222"/>
                  </a:cubicBezTo>
                  <a:lnTo>
                    <a:pt x="769752" y="172467"/>
                  </a:lnTo>
                  <a:cubicBezTo>
                    <a:pt x="769752" y="178112"/>
                    <a:pt x="765175" y="182689"/>
                    <a:pt x="759530" y="182689"/>
                  </a:cubicBezTo>
                  <a:lnTo>
                    <a:pt x="10222" y="182689"/>
                  </a:lnTo>
                  <a:cubicBezTo>
                    <a:pt x="4577" y="182689"/>
                    <a:pt x="0" y="178112"/>
                    <a:pt x="0" y="172467"/>
                  </a:cubicBezTo>
                  <a:lnTo>
                    <a:pt x="0" y="10222"/>
                  </a:lnTo>
                  <a:cubicBezTo>
                    <a:pt x="0" y="4577"/>
                    <a:pt x="4577" y="0"/>
                    <a:pt x="10222" y="0"/>
                  </a:cubicBezTo>
                  <a:close/>
                </a:path>
              </a:pathLst>
            </a:custGeom>
            <a:ln w="9525" cap="sq">
              <a:solidFill>
                <a:srgbClr val="76717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534890DB-A4BC-D543-16D9-8992605E2FC6}"/>
                </a:ext>
              </a:extLst>
            </p:cNvPr>
            <p:cNvSpPr txBox="1"/>
            <p:nvPr/>
          </p:nvSpPr>
          <p:spPr>
            <a:xfrm>
              <a:off x="0" y="-57150"/>
              <a:ext cx="769752" cy="239839"/>
            </a:xfrm>
            <a:prstGeom prst="rect">
              <a:avLst/>
            </a:prstGeom>
          </p:spPr>
          <p:txBody>
            <a:bodyPr lIns="105315" tIns="105315" rIns="105315" bIns="105315" rtlCol="0" anchor="ctr"/>
            <a:lstStyle/>
            <a:p>
              <a:pPr algn="ctr">
                <a:lnSpc>
                  <a:spcPts val="3304"/>
                </a:lnSpc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0A85A43-ADE5-4CD6-2063-6C5150813571}"/>
              </a:ext>
            </a:extLst>
          </p:cNvPr>
          <p:cNvSpPr txBox="1"/>
          <p:nvPr/>
        </p:nvSpPr>
        <p:spPr>
          <a:xfrm>
            <a:off x="10212583" y="4793558"/>
            <a:ext cx="4695051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847"/>
              </a:lnSpc>
              <a:spcBef>
                <a:spcPct val="0"/>
              </a:spcBef>
            </a:pPr>
            <a:r>
              <a:rPr lang="en-US" sz="8205" b="1" u="none" strike="noStrike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5,20,000</a:t>
            </a:r>
            <a:r>
              <a:rPr lang="en-US" sz="8205" u="none" strike="noStrike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"/>
                <a:ea typeface="Montserrat"/>
                <a:cs typeface="Montserrat"/>
                <a:sym typeface="Montserrat"/>
              </a:rPr>
              <a:t>/-</a:t>
            </a: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78D5E721-D4D9-03AF-05F5-3361DAE6DBE1}"/>
              </a:ext>
            </a:extLst>
          </p:cNvPr>
          <p:cNvSpPr txBox="1"/>
          <p:nvPr/>
        </p:nvSpPr>
        <p:spPr>
          <a:xfrm>
            <a:off x="9991116" y="4090875"/>
            <a:ext cx="8058531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725"/>
              </a:lnSpc>
              <a:spcBef>
                <a:spcPct val="0"/>
              </a:spcBef>
            </a:pPr>
            <a:r>
              <a:rPr lang="en-US" sz="2271" u="none" strike="noStrike" spc="163" dirty="0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ACTUAL PRICE FOR AMEERPET STATION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5EA2A4-EE01-51D2-7A97-C31F201D7C26}"/>
              </a:ext>
            </a:extLst>
          </p:cNvPr>
          <p:cNvSpPr txBox="1"/>
          <p:nvPr/>
        </p:nvSpPr>
        <p:spPr>
          <a:xfrm>
            <a:off x="14907634" y="4964676"/>
            <a:ext cx="3183176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1"/>
              </a:lnSpc>
              <a:spcBef>
                <a:spcPct val="0"/>
              </a:spcBef>
            </a:pPr>
            <a:r>
              <a:rPr lang="en-US" sz="2192" b="1" u="none" strike="noStrike" spc="157" dirty="0">
                <a:solidFill>
                  <a:srgbClr val="39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+18% GST PER MONTH PER</a:t>
            </a:r>
          </a:p>
          <a:p>
            <a:pPr marL="0" lvl="0" indent="0" algn="l">
              <a:lnSpc>
                <a:spcPts val="2631"/>
              </a:lnSpc>
              <a:spcBef>
                <a:spcPct val="0"/>
              </a:spcBef>
            </a:pPr>
            <a:r>
              <a:rPr lang="en-US" sz="2192" b="1" u="none" strike="noStrike" spc="157" dirty="0">
                <a:solidFill>
                  <a:srgbClr val="39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72871" y="1968538"/>
            <a:ext cx="7327487" cy="1438019"/>
            <a:chOff x="0" y="0"/>
            <a:chExt cx="769752" cy="182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9752" cy="182689"/>
            </a:xfrm>
            <a:custGeom>
              <a:avLst/>
              <a:gdLst/>
              <a:ahLst/>
              <a:cxnLst/>
              <a:rect l="l" t="t" r="r" b="b"/>
              <a:pathLst>
                <a:path w="769752" h="182689">
                  <a:moveTo>
                    <a:pt x="10222" y="0"/>
                  </a:moveTo>
                  <a:lnTo>
                    <a:pt x="759530" y="0"/>
                  </a:lnTo>
                  <a:cubicBezTo>
                    <a:pt x="765175" y="0"/>
                    <a:pt x="769752" y="4577"/>
                    <a:pt x="769752" y="10222"/>
                  </a:cubicBezTo>
                  <a:lnTo>
                    <a:pt x="769752" y="172467"/>
                  </a:lnTo>
                  <a:cubicBezTo>
                    <a:pt x="769752" y="178112"/>
                    <a:pt x="765175" y="182689"/>
                    <a:pt x="759530" y="182689"/>
                  </a:cubicBezTo>
                  <a:lnTo>
                    <a:pt x="10222" y="182689"/>
                  </a:lnTo>
                  <a:cubicBezTo>
                    <a:pt x="4577" y="182689"/>
                    <a:pt x="0" y="178112"/>
                    <a:pt x="0" y="172467"/>
                  </a:cubicBezTo>
                  <a:lnTo>
                    <a:pt x="0" y="10222"/>
                  </a:lnTo>
                  <a:cubicBezTo>
                    <a:pt x="0" y="4577"/>
                    <a:pt x="4577" y="0"/>
                    <a:pt x="10222" y="0"/>
                  </a:cubicBezTo>
                  <a:close/>
                </a:path>
              </a:pathLst>
            </a:custGeom>
            <a:ln w="9525" cap="sq">
              <a:solidFill>
                <a:srgbClr val="76717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769752" cy="239839"/>
            </a:xfrm>
            <a:prstGeom prst="rect">
              <a:avLst/>
            </a:prstGeom>
          </p:spPr>
          <p:txBody>
            <a:bodyPr lIns="105315" tIns="105315" rIns="105315" bIns="105315" rtlCol="0" anchor="ctr"/>
            <a:lstStyle/>
            <a:p>
              <a:pPr algn="ctr">
                <a:lnSpc>
                  <a:spcPts val="330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722" y="0"/>
            <a:ext cx="8585485" cy="10629004"/>
            <a:chOff x="0" y="0"/>
            <a:chExt cx="2261198" cy="27994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198" cy="2799408"/>
            </a:xfrm>
            <a:custGeom>
              <a:avLst/>
              <a:gdLst/>
              <a:ahLst/>
              <a:cxnLst/>
              <a:rect l="l" t="t" r="r" b="b"/>
              <a:pathLst>
                <a:path w="2261198" h="2799408">
                  <a:moveTo>
                    <a:pt x="0" y="0"/>
                  </a:moveTo>
                  <a:lnTo>
                    <a:pt x="2261198" y="0"/>
                  </a:lnTo>
                  <a:lnTo>
                    <a:pt x="2261198" y="2799408"/>
                  </a:lnTo>
                  <a:lnTo>
                    <a:pt x="0" y="2799408"/>
                  </a:lnTo>
                  <a:close/>
                </a:path>
              </a:pathLst>
            </a:custGeom>
            <a:gradFill rotWithShape="1">
              <a:gsLst>
                <a:gs pos="0">
                  <a:srgbClr val="048BB1">
                    <a:alpha val="100000"/>
                  </a:srgbClr>
                </a:gs>
                <a:gs pos="50000">
                  <a:srgbClr val="265EC4">
                    <a:alpha val="100000"/>
                  </a:srgbClr>
                </a:gs>
                <a:gs pos="100000">
                  <a:srgbClr val="A021D2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261198" cy="2856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2482799"/>
            <a:ext cx="8115300" cy="7062312"/>
            <a:chOff x="0" y="0"/>
            <a:chExt cx="950229" cy="8269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0229" cy="826934"/>
            </a:xfrm>
            <a:custGeom>
              <a:avLst/>
              <a:gdLst/>
              <a:ahLst/>
              <a:cxnLst/>
              <a:rect l="l" t="t" r="r" b="b"/>
              <a:pathLst>
                <a:path w="950229" h="826934">
                  <a:moveTo>
                    <a:pt x="11448" y="0"/>
                  </a:moveTo>
                  <a:lnTo>
                    <a:pt x="938781" y="0"/>
                  </a:lnTo>
                  <a:cubicBezTo>
                    <a:pt x="941818" y="0"/>
                    <a:pt x="944729" y="1206"/>
                    <a:pt x="946876" y="3353"/>
                  </a:cubicBezTo>
                  <a:cubicBezTo>
                    <a:pt x="949023" y="5500"/>
                    <a:pt x="950229" y="8412"/>
                    <a:pt x="950229" y="11448"/>
                  </a:cubicBezTo>
                  <a:lnTo>
                    <a:pt x="950229" y="815486"/>
                  </a:lnTo>
                  <a:cubicBezTo>
                    <a:pt x="950229" y="821808"/>
                    <a:pt x="945104" y="826934"/>
                    <a:pt x="938781" y="826934"/>
                  </a:cubicBezTo>
                  <a:lnTo>
                    <a:pt x="11448" y="826934"/>
                  </a:lnTo>
                  <a:cubicBezTo>
                    <a:pt x="8412" y="826934"/>
                    <a:pt x="5500" y="825728"/>
                    <a:pt x="3353" y="823581"/>
                  </a:cubicBezTo>
                  <a:cubicBezTo>
                    <a:pt x="1206" y="821434"/>
                    <a:pt x="0" y="818522"/>
                    <a:pt x="0" y="815486"/>
                  </a:cubicBezTo>
                  <a:lnTo>
                    <a:pt x="0" y="11448"/>
                  </a:lnTo>
                  <a:cubicBezTo>
                    <a:pt x="0" y="8412"/>
                    <a:pt x="1206" y="5500"/>
                    <a:pt x="3353" y="3353"/>
                  </a:cubicBezTo>
                  <a:cubicBezTo>
                    <a:pt x="5500" y="1206"/>
                    <a:pt x="8412" y="0"/>
                    <a:pt x="11448" y="0"/>
                  </a:cubicBezTo>
                  <a:close/>
                </a:path>
              </a:pathLst>
            </a:custGeom>
            <a:blipFill>
              <a:blip r:embed="rId2"/>
              <a:stretch>
                <a:fillRect l="-15749" t="-21001" r="-2038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94339" y="2065983"/>
            <a:ext cx="3985851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47"/>
              </a:lnSpc>
              <a:spcBef>
                <a:spcPct val="0"/>
              </a:spcBef>
            </a:pPr>
            <a:r>
              <a:rPr lang="en-US" sz="8205" b="1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60</a:t>
            </a:r>
            <a:r>
              <a:rPr lang="en-US" sz="8205" b="1" u="none" strike="noStrike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,000</a:t>
            </a:r>
            <a:r>
              <a:rPr lang="en-US" sz="8205" u="none" strike="noStrike" spc="-672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"/>
                <a:ea typeface="Montserrat"/>
                <a:cs typeface="Montserrat"/>
                <a:sym typeface="Montserrat"/>
              </a:rPr>
              <a:t>/-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038225"/>
            <a:ext cx="585293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spc="-1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Metro P</a:t>
            </a:r>
            <a:r>
              <a:rPr lang="en-US" sz="3999" b="1" u="none" strike="noStrike" spc="-1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arking Shelters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754003"/>
            <a:ext cx="409348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1"/>
              </a:lnSpc>
              <a:spcBef>
                <a:spcPct val="0"/>
              </a:spcBef>
            </a:pPr>
            <a:r>
              <a:rPr lang="en-US" sz="2334" spc="1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SPE</a:t>
            </a:r>
            <a:r>
              <a:rPr lang="en-US" sz="2334" u="none" strike="noStrike" spc="1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CIFICATIONS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08638" y="4572831"/>
            <a:ext cx="3173327" cy="114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spc="140" dirty="0">
                <a:solidFill>
                  <a:srgbClr val="3A3939"/>
                </a:solidFill>
                <a:latin typeface="Montserrat"/>
                <a:ea typeface="Montserrat"/>
                <a:cs typeface="Montserrat"/>
                <a:sym typeface="Montserrat"/>
              </a:rPr>
              <a:t>SIZE :</a:t>
            </a:r>
            <a:endParaRPr lang="en-US" sz="1945" u="none" strike="noStrike" spc="140" dirty="0">
              <a:solidFill>
                <a:srgbClr val="3A39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33” FEET WIDTH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u="none" strike="noStrike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5” FEET HEIGHT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08342" y="4954177"/>
            <a:ext cx="329440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5"/>
              </a:lnSpc>
              <a:spcBef>
                <a:spcPct val="0"/>
              </a:spcBef>
            </a:pPr>
            <a:r>
              <a:rPr lang="en-US" sz="1945" b="1" spc="140" dirty="0">
                <a:solidFill>
                  <a:srgbClr val="3A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TOTAL NO.OF BOARDS </a:t>
            </a:r>
          </a:p>
          <a:p>
            <a:pPr marL="0" lvl="0" indent="0" algn="l">
              <a:lnSpc>
                <a:spcPts val="3309"/>
              </a:lnSpc>
              <a:spcBef>
                <a:spcPct val="0"/>
              </a:spcBef>
            </a:pPr>
            <a:r>
              <a:rPr lang="en-US" sz="2758" b="1" u="none" strike="noStrike" dirty="0">
                <a:gradFill>
                  <a:gsLst>
                    <a:gs pos="0">
                      <a:srgbClr val="048BB1">
                        <a:alpha val="100000"/>
                      </a:srgbClr>
                    </a:gs>
                    <a:gs pos="50000">
                      <a:srgbClr val="265EC4">
                        <a:alpha val="100000"/>
                      </a:srgbClr>
                    </a:gs>
                    <a:gs pos="100000">
                      <a:srgbClr val="A021D2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110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14035" y="1470542"/>
            <a:ext cx="373456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5"/>
              </a:lnSpc>
              <a:spcBef>
                <a:spcPct val="0"/>
              </a:spcBef>
            </a:pPr>
            <a:r>
              <a:rPr lang="en-US" sz="2271" u="none" strike="noStrike" spc="163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ACTUAL PRICE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43842" y="2209172"/>
            <a:ext cx="3183176" cy="987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1"/>
              </a:lnSpc>
              <a:spcBef>
                <a:spcPct val="0"/>
              </a:spcBef>
            </a:pPr>
            <a:r>
              <a:rPr lang="en-US" sz="2192" b="1" u="none" strike="noStrike" spc="157" dirty="0">
                <a:solidFill>
                  <a:srgbClr val="39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+18% GST PER MONTH PER</a:t>
            </a:r>
          </a:p>
          <a:p>
            <a:pPr marL="0" lvl="0" indent="0" algn="l">
              <a:lnSpc>
                <a:spcPts val="2631"/>
              </a:lnSpc>
              <a:spcBef>
                <a:spcPct val="0"/>
              </a:spcBef>
            </a:pPr>
            <a:r>
              <a:rPr lang="en-US" sz="2192" b="1" u="none" strike="noStrike" spc="157" dirty="0">
                <a:solidFill>
                  <a:srgbClr val="39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186</Words>
  <Application>Microsoft Macintosh PowerPoint</Application>
  <PresentationFormat>Custom</PresentationFormat>
  <Paragraphs>65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Montserrat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Edtiable Malls New Deck</dc:title>
  <cp:lastModifiedBy>Praveen Kumar Reddy</cp:lastModifiedBy>
  <cp:revision>11</cp:revision>
  <dcterms:created xsi:type="dcterms:W3CDTF">2006-08-16T00:00:00Z</dcterms:created>
  <dcterms:modified xsi:type="dcterms:W3CDTF">2026-10-01T07:08:01Z</dcterms:modified>
  <dc:identifier>DAGtIp5q6D0</dc:identifier>
</cp:coreProperties>
</file>